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Default Extension="fntdata" ContentType="application/x-fontdata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880600" cy="6858000"/>
  <p:notesSz cx="6858000" cy="9144000"/>
  <p:embeddedFontLst>
    <p:embeddedFont>
      <p:font typeface="Arimo" charset="0"/>
      <p:regular r:id="rId48"/>
    </p:embeddedFont>
    <p:embeddedFont>
      <p:font typeface="Inter" charset="0"/>
      <p:regular r:id="rId49"/>
    </p:embeddedFont>
    <p:embeddedFont>
      <p:font typeface="Calibri" pitchFamily="34" charset="0"/>
      <p:regular r:id="rId50"/>
      <p:bold r:id="rId51"/>
      <p:italic r:id="rId52"/>
      <p:boldItalic r:id="rId53"/>
    </p:embeddedFont>
    <p:embeddedFont>
      <p:font typeface="Arial MT Pro" charset="0"/>
      <p:regular r:id="rId54"/>
    </p:embeddedFont>
    <p:embeddedFont>
      <p:font typeface="Inter Bold" charset="0"/>
      <p:regular r:id="rId55"/>
    </p:embeddedFont>
    <p:embeddedFont>
      <p:font typeface="Arimo Bold" charset="0"/>
      <p:regular r:id="rId56"/>
    </p:embeddedFont>
    <p:embeddedFont>
      <p:font typeface="Arial MT Pro Bold" charset="0"/>
      <p:regular r:id="rId57"/>
    </p:embeddedFont>
    <p:embeddedFont>
      <p:font typeface="Inter Italics" charset="0"/>
      <p:regular r:id="rId58"/>
    </p:embeddedFont>
    <p:embeddedFont>
      <p:font typeface="Inter Medium" charset="0"/>
      <p:regular r:id="rId59"/>
    </p:embeddedFont>
    <p:embeddedFont>
      <p:font typeface="XM Vahid" charset="-78"/>
      <p:regular r:id="rId60"/>
    </p:embeddedFont>
    <p:embeddedFont>
      <p:font typeface="Droid Arabic Kufi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85" d="100"/>
          <a:sy n="85" d="100"/>
        </p:scale>
        <p:origin x="-132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yousef-bahgt/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linkedin.com/in/hamdy-osama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mohamedkaasab/" TargetMode="Externa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153" y="247012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3" r="2" b="-12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95900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2070" b="-207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5900" y="2570724"/>
            <a:ext cx="9886950" cy="141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7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Fake Job Postings</a:t>
            </a:r>
          </a:p>
          <a:p>
            <a:pPr algn="l">
              <a:lnSpc>
                <a:spcPts val="5494"/>
              </a:lnSpc>
            </a:pPr>
            <a:r>
              <a:rPr lang="en-US" sz="47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Detection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422870" y="2441040"/>
            <a:ext cx="2401558" cy="1545551"/>
            <a:chOff x="0" y="0"/>
            <a:chExt cx="2075619" cy="13357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619" cy="1335789"/>
            </a:xfrm>
            <a:custGeom>
              <a:avLst/>
              <a:gdLst/>
              <a:ahLst/>
              <a:cxnLst/>
              <a:rect l="l" t="t" r="r" b="b"/>
              <a:pathLst>
                <a:path w="2075619" h="1335789">
                  <a:moveTo>
                    <a:pt x="25790" y="0"/>
                  </a:moveTo>
                  <a:lnTo>
                    <a:pt x="2049829" y="0"/>
                  </a:lnTo>
                  <a:cubicBezTo>
                    <a:pt x="2064073" y="0"/>
                    <a:pt x="2075619" y="11546"/>
                    <a:pt x="2075619" y="25790"/>
                  </a:cubicBezTo>
                  <a:lnTo>
                    <a:pt x="2075619" y="1310000"/>
                  </a:lnTo>
                  <a:cubicBezTo>
                    <a:pt x="2075619" y="1324243"/>
                    <a:pt x="2064073" y="1335789"/>
                    <a:pt x="2049829" y="1335789"/>
                  </a:cubicBezTo>
                  <a:lnTo>
                    <a:pt x="25790" y="1335789"/>
                  </a:lnTo>
                  <a:cubicBezTo>
                    <a:pt x="11546" y="1335789"/>
                    <a:pt x="0" y="1324243"/>
                    <a:pt x="0" y="1310000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484" r="-1484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495900" y="4089663"/>
            <a:ext cx="9416143" cy="66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6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Detecting Fraudulent Job Listings with Machine Learning </a:t>
            </a:r>
          </a:p>
          <a:p>
            <a:pPr algn="l">
              <a:lnSpc>
                <a:spcPts val="2636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104" y="1843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0206" y="1700746"/>
            <a:ext cx="8803148" cy="51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0" y="1658997"/>
            <a:ext cx="4884824" cy="536241"/>
            <a:chOff x="0" y="0"/>
            <a:chExt cx="11106150" cy="12192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002126" y="1658997"/>
            <a:ext cx="4884824" cy="536241"/>
            <a:chOff x="0" y="0"/>
            <a:chExt cx="11106150" cy="1219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0" y="2312541"/>
            <a:ext cx="4884824" cy="536241"/>
            <a:chOff x="0" y="0"/>
            <a:chExt cx="11106150" cy="12192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02126" y="2312541"/>
            <a:ext cx="4884824" cy="536241"/>
            <a:chOff x="0" y="0"/>
            <a:chExt cx="11106150" cy="12192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0" y="2966085"/>
            <a:ext cx="4884824" cy="536241"/>
            <a:chOff x="0" y="0"/>
            <a:chExt cx="11106150" cy="1219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002126" y="2966085"/>
            <a:ext cx="4884824" cy="536241"/>
            <a:chOff x="0" y="0"/>
            <a:chExt cx="11106150" cy="12192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1106150" cy="1219200"/>
            </a:xfrm>
            <a:custGeom>
              <a:avLst/>
              <a:gdLst/>
              <a:ahLst/>
              <a:cxnLst/>
              <a:rect l="l" t="t" r="r" b="b"/>
              <a:pathLst>
                <a:path w="11106150" h="121920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58651" y="3616626"/>
            <a:ext cx="9886950" cy="536241"/>
            <a:chOff x="0" y="0"/>
            <a:chExt cx="22479000" cy="12192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22479000" cy="1219200"/>
            </a:xfrm>
            <a:custGeom>
              <a:avLst/>
              <a:gdLst/>
              <a:ahLst/>
              <a:cxnLst/>
              <a:rect l="l" t="t" r="r" b="b"/>
              <a:pathLst>
                <a:path w="22479000" h="1219200">
                  <a:moveTo>
                    <a:pt x="0" y="0"/>
                  </a:moveTo>
                  <a:lnTo>
                    <a:pt x="22479000" y="0"/>
                  </a:lnTo>
                  <a:lnTo>
                    <a:pt x="22479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9197" y="1784678"/>
            <a:ext cx="284878" cy="284878"/>
            <a:chOff x="0" y="0"/>
            <a:chExt cx="647700" cy="6477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5161323" y="1784678"/>
            <a:ext cx="284878" cy="284878"/>
            <a:chOff x="0" y="0"/>
            <a:chExt cx="647700" cy="6477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59197" y="2438222"/>
            <a:ext cx="284878" cy="284878"/>
            <a:chOff x="0" y="0"/>
            <a:chExt cx="647700" cy="6477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161323" y="2438222"/>
            <a:ext cx="284878" cy="284878"/>
            <a:chOff x="0" y="0"/>
            <a:chExt cx="647700" cy="6477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59197" y="3091767"/>
            <a:ext cx="284878" cy="284878"/>
            <a:chOff x="0" y="0"/>
            <a:chExt cx="647700" cy="6477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5161323" y="3091767"/>
            <a:ext cx="284878" cy="284878"/>
            <a:chOff x="0" y="0"/>
            <a:chExt cx="647700" cy="6477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59197" y="3721401"/>
            <a:ext cx="284878" cy="284878"/>
            <a:chOff x="0" y="0"/>
            <a:chExt cx="647700" cy="6477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561378" y="1837994"/>
            <a:ext cx="119776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63504" y="1837994"/>
            <a:ext cx="297561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Impact &amp; Problem Significance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1378" y="2491538"/>
            <a:ext cx="1927503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Dataset Description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63504" y="2491538"/>
            <a:ext cx="3010376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 Cleaning &amp; Preprocessing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1378" y="3145082"/>
            <a:ext cx="312681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3504" y="3145082"/>
            <a:ext cx="365005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 Model &amp; Evaluation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3888" y="3721401"/>
            <a:ext cx="447823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1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Conclusion, Recommendations &amp; Future Work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388029" y="2617685"/>
            <a:ext cx="1714674" cy="1859179"/>
            <a:chOff x="0" y="0"/>
            <a:chExt cx="4658717" cy="5051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58628" cy="5051307"/>
            </a:xfrm>
            <a:custGeom>
              <a:avLst/>
              <a:gdLst/>
              <a:ahLst/>
              <a:cxnLst/>
              <a:rect l="l" t="t" r="r" b="b"/>
              <a:pathLst>
                <a:path w="4658628" h="5051307">
                  <a:moveTo>
                    <a:pt x="0" y="0"/>
                  </a:moveTo>
                  <a:lnTo>
                    <a:pt x="4658628" y="0"/>
                  </a:lnTo>
                  <a:lnTo>
                    <a:pt x="4658628" y="5051307"/>
                  </a:lnTo>
                  <a:lnTo>
                    <a:pt x="0" y="505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8703" b="-4870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436078" y="2617685"/>
            <a:ext cx="2225300" cy="1847963"/>
            <a:chOff x="0" y="0"/>
            <a:chExt cx="7255241" cy="60249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55102" cy="6024964"/>
            </a:xfrm>
            <a:custGeom>
              <a:avLst/>
              <a:gdLst/>
              <a:ahLst/>
              <a:cxnLst/>
              <a:rect l="l" t="t" r="r" b="b"/>
              <a:pathLst>
                <a:path w="7255102" h="6024964">
                  <a:moveTo>
                    <a:pt x="0" y="0"/>
                  </a:moveTo>
                  <a:lnTo>
                    <a:pt x="7255102" y="0"/>
                  </a:lnTo>
                  <a:lnTo>
                    <a:pt x="7255102" y="6024964"/>
                  </a:lnTo>
                  <a:lnTo>
                    <a:pt x="0" y="602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t="-30375" b="-3037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357301" y="2639203"/>
            <a:ext cx="2105976" cy="1837661"/>
            <a:chOff x="0" y="0"/>
            <a:chExt cx="4243393" cy="37027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43443" cy="3702770"/>
            </a:xfrm>
            <a:custGeom>
              <a:avLst/>
              <a:gdLst/>
              <a:ahLst/>
              <a:cxnLst/>
              <a:rect l="l" t="t" r="r" b="b"/>
              <a:pathLst>
                <a:path w="4243443" h="3702770">
                  <a:moveTo>
                    <a:pt x="0" y="0"/>
                  </a:moveTo>
                  <a:lnTo>
                    <a:pt x="4243443" y="0"/>
                  </a:lnTo>
                  <a:lnTo>
                    <a:pt x="4243443" y="3702770"/>
                  </a:lnTo>
                  <a:lnTo>
                    <a:pt x="0" y="3702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980" b="-14980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4943475" y="2639203"/>
            <a:ext cx="2245610" cy="1826445"/>
          </a:xfrm>
          <a:custGeom>
            <a:avLst/>
            <a:gdLst/>
            <a:ahLst/>
            <a:cxnLst/>
            <a:rect l="l" t="t" r="r" b="b"/>
            <a:pathLst>
              <a:path w="2245610" h="1826445">
                <a:moveTo>
                  <a:pt x="0" y="0"/>
                </a:moveTo>
                <a:lnTo>
                  <a:pt x="2245610" y="0"/>
                </a:lnTo>
                <a:lnTo>
                  <a:pt x="2245610" y="1826446"/>
                </a:lnTo>
                <a:lnTo>
                  <a:pt x="0" y="182644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l="-669" t="-49613" r="-3664" b="-2142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36078" y="4681465"/>
            <a:ext cx="2050613" cy="29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899" b="1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www.linkedin.com/in/mohamedkaasab/"/>
              </a:rPr>
              <a:t>Mohamed Kassab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42987" y="1081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8029" y="4681465"/>
            <a:ext cx="1675686" cy="29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899" b="1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linkedin.com/in/hamdy-osama/"/>
              </a:rPr>
              <a:t>Hamdy Osama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301" y="4681465"/>
            <a:ext cx="1996678" cy="29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899" b="1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www.linkedin.com/in/yousef-bahgt/"/>
              </a:rPr>
              <a:t>Yousef Mohamed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62472" y="4681465"/>
            <a:ext cx="1474887" cy="29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8"/>
              </a:lnSpc>
              <a:spcBef>
                <a:spcPct val="0"/>
              </a:spcBef>
            </a:pPr>
            <a:r>
              <a:rPr lang="en-US" sz="1899" b="1" u="sng" strike="noStrike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</a:rPr>
              <a:t>Saja Elsayed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5750" y="2418926"/>
            <a:ext cx="292000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-615401" y="3429000"/>
            <a:ext cx="3889480" cy="9525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270" y="309691"/>
            <a:ext cx="7979735" cy="52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Project Overview &amp; 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242" y="2477977"/>
            <a:ext cx="9353547" cy="89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4"/>
              </a:lnSpc>
              <a:spcBef>
                <a:spcPct val="0"/>
              </a:spcBef>
            </a:pPr>
            <a:r>
              <a:rPr lang="en-US" sz="190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 platforms are flooded with fake listings designed to steal money or personal data from applicants. This erodes user trust in hiring platforms and wastes job seekers' time and effort.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242" y="1539675"/>
            <a:ext cx="4075418" cy="496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sz="28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Business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663" y="3600448"/>
            <a:ext cx="3301722" cy="47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Mission &amp; Goal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60" y="4448120"/>
            <a:ext cx="9175890" cy="83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Build an automated machine learning classifier that reads a job posting's text and metadata to predict whether it is Real (0) or Fraudulent (1) — enabling platforms to flag scams before they reach job seekers.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149" y="5733961"/>
            <a:ext cx="5963484" cy="21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Framing: Supervised Binary Classification with Highly Imbalanced Target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02736" y="5679180"/>
            <a:ext cx="1544409" cy="273831"/>
            <a:chOff x="0" y="0"/>
            <a:chExt cx="2686050" cy="4762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686050" cy="476250"/>
            </a:xfrm>
            <a:custGeom>
              <a:avLst/>
              <a:gdLst/>
              <a:ahLst/>
              <a:cxnLst/>
              <a:rect l="l" t="t" r="r" b="b"/>
              <a:pathLst>
                <a:path w="2686050" h="476250">
                  <a:moveTo>
                    <a:pt x="0" y="0"/>
                  </a:moveTo>
                  <a:lnTo>
                    <a:pt x="2686050" y="0"/>
                  </a:lnTo>
                  <a:lnTo>
                    <a:pt x="26860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00" b="-2000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270" y="309691"/>
            <a:ext cx="7979735" cy="52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Why This Matters (Business Impact)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5830" y="2763476"/>
            <a:ext cx="2904776" cy="256811"/>
            <a:chOff x="0" y="0"/>
            <a:chExt cx="6464198" cy="5715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6464173" cy="571500"/>
            </a:xfrm>
            <a:custGeom>
              <a:avLst/>
              <a:gdLst/>
              <a:ahLst/>
              <a:cxnLst/>
              <a:rect l="l" t="t" r="r" b="b"/>
              <a:pathLst>
                <a:path w="6464173" h="571500">
                  <a:moveTo>
                    <a:pt x="0" y="0"/>
                  </a:moveTo>
                  <a:lnTo>
                    <a:pt x="6464173" y="0"/>
                  </a:lnTo>
                  <a:lnTo>
                    <a:pt x="6464173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62" b="-126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63815" y="3224771"/>
            <a:ext cx="92880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91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$501M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685" y="3720430"/>
            <a:ext cx="2904776" cy="56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Reported U.S. job-scam losses in 2024 (up from $90M in 2020)</a:t>
            </a:r>
          </a:p>
          <a:p>
            <a:pPr algn="ctr">
              <a:lnSpc>
                <a:spcPts val="1559"/>
              </a:lnSpc>
            </a:pPr>
            <a:r>
              <a:rPr lang="en-US" sz="1076" i="1">
                <a:solidFill>
                  <a:srgbClr val="991B1B"/>
                </a:solidFill>
                <a:latin typeface="Inter Italics"/>
                <a:ea typeface="Inter Italics"/>
                <a:cs typeface="Inter Italics"/>
                <a:sym typeface="Inter Italics"/>
              </a:rPr>
              <a:t>Source: FTC Data Book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494229" y="2763476"/>
            <a:ext cx="2904776" cy="256811"/>
            <a:chOff x="0" y="0"/>
            <a:chExt cx="6464198" cy="57150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6464173" cy="571500"/>
            </a:xfrm>
            <a:custGeom>
              <a:avLst/>
              <a:gdLst/>
              <a:ahLst/>
              <a:cxnLst/>
              <a:rect l="l" t="t" r="r" b="b"/>
              <a:pathLst>
                <a:path w="6464173" h="571500">
                  <a:moveTo>
                    <a:pt x="0" y="0"/>
                  </a:moveTo>
                  <a:lnTo>
                    <a:pt x="6464173" y="0"/>
                  </a:lnTo>
                  <a:lnTo>
                    <a:pt x="6464173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62" b="-126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600442" y="3224771"/>
            <a:ext cx="69234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91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4.8%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4229" y="3720430"/>
            <a:ext cx="2904776" cy="56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Fraudulent rate in dataset (866 / 17,880 listings)</a:t>
            </a:r>
          </a:p>
          <a:p>
            <a:pPr algn="ctr">
              <a:lnSpc>
                <a:spcPts val="1559"/>
              </a:lnSpc>
            </a:pPr>
            <a:r>
              <a:rPr lang="en-US" sz="1076" i="1">
                <a:solidFill>
                  <a:srgbClr val="1E40AF"/>
                </a:solidFill>
                <a:latin typeface="Inter Italics"/>
                <a:ea typeface="Inter Italics"/>
                <a:cs typeface="Inter Italics"/>
                <a:sym typeface="Inter Italics"/>
              </a:rPr>
              <a:t>Rare event, but high financial impact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912627" y="2763476"/>
            <a:ext cx="2904913" cy="256811"/>
            <a:chOff x="0" y="0"/>
            <a:chExt cx="6464503" cy="5715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6464554" cy="571500"/>
            </a:xfrm>
            <a:custGeom>
              <a:avLst/>
              <a:gdLst/>
              <a:ahLst/>
              <a:cxnLst/>
              <a:rect l="l" t="t" r="r" b="b"/>
              <a:pathLst>
                <a:path w="6464554" h="571500">
                  <a:moveTo>
                    <a:pt x="0" y="0"/>
                  </a:moveTo>
                  <a:lnTo>
                    <a:pt x="6464554" y="0"/>
                  </a:lnTo>
                  <a:lnTo>
                    <a:pt x="6464554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64" b="-126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7612618" y="3291446"/>
            <a:ext cx="15885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6"/>
              </a:lnSpc>
            </a:pPr>
            <a:r>
              <a:rPr lang="en-US" sz="138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Personal Data Risk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12627" y="3815680"/>
            <a:ext cx="2904913" cy="37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Scams harvest IDs, bank info, or demand upfront "fees" from vulnerable applicants.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330275" y="6338887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54283" y="6381740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270" y="309691"/>
            <a:ext cx="7979735" cy="52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Dataset Overview &amp; Schema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590" y="1420351"/>
            <a:ext cx="8671084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Source &amp; Dimensions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2300" y="1901364"/>
            <a:ext cx="38290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17,880 Job Postings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2179" y="2555858"/>
            <a:ext cx="404857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18 Original Attributes (Text, Categorical, Binary)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300" y="2927333"/>
            <a:ext cx="368762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212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Target Imbalance Split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1231" y="3422633"/>
            <a:ext cx="440953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Real: </a:t>
            </a:r>
            <a:r>
              <a:rPr lang="en-US" sz="1518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17,014 (95.2%)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| Fraudulent: </a:t>
            </a:r>
            <a:r>
              <a:rPr lang="en-US" sz="1518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866 (4.8%)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590" y="4022708"/>
            <a:ext cx="8041005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Key Original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231" y="4503720"/>
            <a:ext cx="5505701" cy="39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Text Fields: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location, department, company_profile, description, requirements, benefits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9285" y="5016219"/>
            <a:ext cx="5477646" cy="39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Categorical Fields: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employment_type, required_experience, required_education, industry, function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9285" y="5528717"/>
            <a:ext cx="5477646" cy="19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Binary Flags: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telecommuting, has_company_logo, has_questions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2595" y="2743200"/>
            <a:ext cx="779621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Cleaning &amp; Preprocessing</a:t>
            </a:r>
          </a:p>
        </p:txBody>
      </p:sp>
      <p:sp>
        <p:nvSpPr>
          <p:cNvPr id="4" name="AutoShape 4"/>
          <p:cNvSpPr/>
          <p:nvPr/>
        </p:nvSpPr>
        <p:spPr>
          <a:xfrm>
            <a:off x="-1472491" y="3748826"/>
            <a:ext cx="493387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9104" y="184328"/>
            <a:ext cx="6730394" cy="72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Cleaning Architecture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1229" y="1960353"/>
            <a:ext cx="3556517" cy="1196124"/>
            <a:chOff x="0" y="0"/>
            <a:chExt cx="6810375" cy="2290458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810375" cy="2290445"/>
            </a:xfrm>
            <a:custGeom>
              <a:avLst/>
              <a:gdLst/>
              <a:ahLst/>
              <a:cxnLst/>
              <a:rect l="l" t="t" r="r" b="b"/>
              <a:pathLst>
                <a:path w="6810375" h="2290445">
                  <a:moveTo>
                    <a:pt x="0" y="0"/>
                  </a:moveTo>
                  <a:lnTo>
                    <a:pt x="6810375" y="0"/>
                  </a:lnTo>
                  <a:lnTo>
                    <a:pt x="6810375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3" b="-66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505026" y="3351897"/>
            <a:ext cx="3440477" cy="1157097"/>
            <a:chOff x="0" y="0"/>
            <a:chExt cx="6810375" cy="2290458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810375" cy="2290445"/>
            </a:xfrm>
            <a:custGeom>
              <a:avLst/>
              <a:gdLst/>
              <a:ahLst/>
              <a:cxnLst/>
              <a:rect l="l" t="t" r="r" b="b"/>
              <a:pathLst>
                <a:path w="6810375" h="2290445">
                  <a:moveTo>
                    <a:pt x="0" y="0"/>
                  </a:moveTo>
                  <a:lnTo>
                    <a:pt x="6810375" y="0"/>
                  </a:lnTo>
                  <a:lnTo>
                    <a:pt x="6810375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63" b="-6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049310" y="4771481"/>
            <a:ext cx="4078284" cy="1143003"/>
            <a:chOff x="0" y="0"/>
            <a:chExt cx="8172450" cy="2290458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8172450" cy="2290445"/>
            </a:xfrm>
            <a:custGeom>
              <a:avLst/>
              <a:gdLst/>
              <a:ahLst/>
              <a:cxnLst/>
              <a:rect l="l" t="t" r="r" b="b"/>
              <a:pathLst>
                <a:path w="8172450" h="2290445">
                  <a:moveTo>
                    <a:pt x="0" y="0"/>
                  </a:moveTo>
                  <a:lnTo>
                    <a:pt x="8172450" y="0"/>
                  </a:lnTo>
                  <a:lnTo>
                    <a:pt x="8172450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4" b="-73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59813" y="2265013"/>
            <a:ext cx="2643502" cy="67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2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missing categorical/text values filled with . 0 rows dropped (100% retention).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27559" y="3739102"/>
            <a:ext cx="2643502" cy="67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2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Audited dataset for fully identical row duplicates. 0 duplicates detected across dataset.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3018" y="5133581"/>
            <a:ext cx="3242584" cy="63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Lowercase | Strip HTML | Remove URLs | Remove Emails | Remove Punctuation | Collapse Whitespace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7183" y="2084038"/>
            <a:ext cx="129861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Missing Values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39610" y="3514095"/>
            <a:ext cx="14097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Duplicates Audit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25264" y="4962131"/>
            <a:ext cx="181248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6-Step Text Cleaning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2595" y="2601571"/>
            <a:ext cx="839414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 Engineering </a:t>
            </a:r>
          </a:p>
        </p:txBody>
      </p:sp>
      <p:sp>
        <p:nvSpPr>
          <p:cNvPr id="4" name="AutoShape 4"/>
          <p:cNvSpPr/>
          <p:nvPr/>
        </p:nvSpPr>
        <p:spPr>
          <a:xfrm>
            <a:off x="-1872817" y="3390896"/>
            <a:ext cx="4716960" cy="38104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026195"/>
            <a:chOff x="0" y="0"/>
            <a:chExt cx="13203809" cy="1368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8220"/>
            </a:xfrm>
            <a:custGeom>
              <a:avLst/>
              <a:gdLst/>
              <a:ahLst/>
              <a:cxnLst/>
              <a:rect l="l" t="t" r="r" b="b"/>
              <a:pathLst>
                <a:path w="13203810" h="1368220">
                  <a:moveTo>
                    <a:pt x="0" y="0"/>
                  </a:moveTo>
                  <a:lnTo>
                    <a:pt x="13203810" y="0"/>
                  </a:lnTo>
                  <a:lnTo>
                    <a:pt x="13203810" y="1368220"/>
                  </a:lnTo>
                  <a:lnTo>
                    <a:pt x="0" y="136822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524" y="241635"/>
            <a:ext cx="530887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 Engineering Strategy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52459" y="1367878"/>
          <a:ext cx="8540369" cy="3219872"/>
        </p:xfrm>
        <a:graphic>
          <a:graphicData uri="http://schemas.openxmlformats.org/drawingml/2006/table">
            <a:tbl>
              <a:tblPr/>
              <a:tblGrid>
                <a:gridCol w="2562042"/>
                <a:gridCol w="5978327"/>
              </a:tblGrid>
              <a:tr h="542813"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New Feature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It Captures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9036"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missing_fields_count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Total number of missing fields per posting — a proxy for listing "incompleteness".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97"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has_salary, has_description, ...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Binary flags (1 or 0): presence of specific information (company profile, requirements, benefits, location).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33482"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job_context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Combined text of title + industry + function to provide domain context.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44"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title_len, description_len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Character lengths of title and description fields.</a:t>
                      </a:r>
                      <a:endParaRPr lang="en-US" sz="1100"/>
                    </a:p>
                  </a:txBody>
                  <a:tcPr marL="37589" marR="37589" marT="37589" marB="37589" anchor="ctr">
                    <a:lnL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7"/>
          <p:cNvGrpSpPr/>
          <p:nvPr/>
        </p:nvGrpSpPr>
        <p:grpSpPr>
          <a:xfrm>
            <a:off x="24364" y="2042890"/>
            <a:ext cx="2963469" cy="8458"/>
            <a:chOff x="0" y="0"/>
            <a:chExt cx="667494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987833" y="2042890"/>
            <a:ext cx="6915024" cy="8458"/>
            <a:chOff x="0" y="0"/>
            <a:chExt cx="15575458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4364" y="2381194"/>
            <a:ext cx="2963469" cy="8458"/>
            <a:chOff x="0" y="0"/>
            <a:chExt cx="6674942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987833" y="2381194"/>
            <a:ext cx="6915024" cy="8458"/>
            <a:chOff x="0" y="0"/>
            <a:chExt cx="15575458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24364" y="2719499"/>
            <a:ext cx="2963469" cy="8458"/>
            <a:chOff x="0" y="0"/>
            <a:chExt cx="667494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987833" y="2719499"/>
            <a:ext cx="6915024" cy="8458"/>
            <a:chOff x="0" y="0"/>
            <a:chExt cx="15575458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4364" y="3057803"/>
            <a:ext cx="2963469" cy="8458"/>
            <a:chOff x="0" y="0"/>
            <a:chExt cx="6674942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2987833" y="3057803"/>
            <a:ext cx="6915024" cy="8458"/>
            <a:chOff x="0" y="0"/>
            <a:chExt cx="15575458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24364" y="3396108"/>
            <a:ext cx="2963469" cy="8458"/>
            <a:chOff x="0" y="0"/>
            <a:chExt cx="6674942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2987833" y="3396108"/>
            <a:ext cx="6915024" cy="8458"/>
            <a:chOff x="0" y="0"/>
            <a:chExt cx="15575458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24364" y="3734412"/>
            <a:ext cx="2963469" cy="8458"/>
            <a:chOff x="0" y="0"/>
            <a:chExt cx="6674942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74993" cy="19050"/>
            </a:xfrm>
            <a:custGeom>
              <a:avLst/>
              <a:gdLst/>
              <a:ahLst/>
              <a:cxnLst/>
              <a:rect l="l" t="t" r="r" b="b"/>
              <a:pathLst>
                <a:path w="6674993" h="19050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987833" y="3734412"/>
            <a:ext cx="6915024" cy="8458"/>
            <a:chOff x="0" y="0"/>
            <a:chExt cx="15575458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575407" cy="19050"/>
            </a:xfrm>
            <a:custGeom>
              <a:avLst/>
              <a:gdLst/>
              <a:ahLst/>
              <a:cxnLst/>
              <a:rect l="l" t="t" r="r" b="b"/>
              <a:pathLst>
                <a:path w="15575407" h="19050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444137" y="5522728"/>
            <a:ext cx="8757013" cy="363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1"/>
              </a:lnSpc>
            </a:pPr>
            <a:r>
              <a:rPr lang="en-US" sz="994" b="1">
                <a:solidFill>
                  <a:srgbClr val="0369A1"/>
                </a:solidFill>
                <a:latin typeface="Inter Medium"/>
                <a:ea typeface="Inter Medium"/>
                <a:cs typeface="Inter Medium"/>
                <a:sym typeface="Inter Medium"/>
              </a:rPr>
              <a:t>These features don't directly label a posting as fraudulent  but they provide the model with vital structural context and metadata completeness signals that raw text alone misses.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2595" y="2338252"/>
            <a:ext cx="839414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Exploratory Data Analysis (EDA)</a:t>
            </a:r>
          </a:p>
        </p:txBody>
      </p:sp>
      <p:sp>
        <p:nvSpPr>
          <p:cNvPr id="4" name="AutoShape 4"/>
          <p:cNvSpPr/>
          <p:nvPr/>
        </p:nvSpPr>
        <p:spPr>
          <a:xfrm>
            <a:off x="-1872817" y="3390896"/>
            <a:ext cx="4716960" cy="38104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134753" y="1546633"/>
            <a:ext cx="5655660" cy="4186079"/>
          </a:xfrm>
          <a:custGeom>
            <a:avLst/>
            <a:gdLst/>
            <a:ahLst/>
            <a:cxnLst/>
            <a:rect l="l" t="t" r="r" b="b"/>
            <a:pathLst>
              <a:path w="5655660" h="4186079">
                <a:moveTo>
                  <a:pt x="0" y="0"/>
                </a:moveTo>
                <a:lnTo>
                  <a:pt x="5655661" y="0"/>
                </a:lnTo>
                <a:lnTo>
                  <a:pt x="5655661" y="4186080"/>
                </a:lnTo>
                <a:lnTo>
                  <a:pt x="0" y="418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69" y="1499008"/>
            <a:ext cx="4040684" cy="216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257"/>
              </a:lnSpc>
            </a:pPr>
            <a:r>
              <a:rPr lang="en-US" sz="23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Visualize the class distribution</a:t>
            </a:r>
          </a:p>
          <a:p>
            <a:pPr algn="ctr" rtl="1">
              <a:lnSpc>
                <a:spcPts val="2837"/>
              </a:lnSpc>
            </a:pPr>
            <a:endParaRPr/>
          </a:p>
          <a:p>
            <a:pPr algn="ctr">
              <a:lnSpc>
                <a:spcPts val="2837"/>
              </a:lnSpc>
            </a:pPr>
            <a:r>
              <a:rPr lang="en-US" sz="20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0 = Real (about 17,800 real job postings)</a:t>
            </a:r>
          </a:p>
          <a:p>
            <a:pPr algn="ctr">
              <a:lnSpc>
                <a:spcPts val="2837"/>
              </a:lnSpc>
            </a:pPr>
            <a:r>
              <a:rPr lang="en-US" sz="20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1 = Fraudulent (about 800 fraudulent postings)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740481" y="2273568"/>
            <a:ext cx="6405988" cy="3821570"/>
          </a:xfrm>
          <a:custGeom>
            <a:avLst/>
            <a:gdLst/>
            <a:ahLst/>
            <a:cxnLst/>
            <a:rect l="l" t="t" r="r" b="b"/>
            <a:pathLst>
              <a:path w="6405988" h="3821570">
                <a:moveTo>
                  <a:pt x="0" y="0"/>
                </a:moveTo>
                <a:lnTo>
                  <a:pt x="6405988" y="0"/>
                </a:lnTo>
                <a:lnTo>
                  <a:pt x="6405988" y="3821570"/>
                </a:lnTo>
                <a:lnTo>
                  <a:pt x="0" y="382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140142"/>
            <a:ext cx="9861556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Compare information availability between real and fraudulent job postings</a:t>
            </a:r>
          </a:p>
          <a:p>
            <a:pPr algn="ctr" rtl="1">
              <a:lnSpc>
                <a:spcPts val="4480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089328" y="1387390"/>
            <a:ext cx="6652273" cy="4622426"/>
          </a:xfrm>
          <a:custGeom>
            <a:avLst/>
            <a:gdLst/>
            <a:ahLst/>
            <a:cxnLst/>
            <a:rect l="l" t="t" r="r" b="b"/>
            <a:pathLst>
              <a:path w="6652273" h="4622426">
                <a:moveTo>
                  <a:pt x="0" y="0"/>
                </a:moveTo>
                <a:lnTo>
                  <a:pt x="6652273" y="0"/>
                </a:lnTo>
                <a:lnTo>
                  <a:pt x="6652273" y="4622426"/>
                </a:lnTo>
                <a:lnTo>
                  <a:pt x="0" y="462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256" y="1648648"/>
            <a:ext cx="3532636" cy="2566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Analyze fraud rates by industry while excluding small categories</a:t>
            </a:r>
          </a:p>
          <a:p>
            <a:pPr algn="ctr" rtl="1">
              <a:lnSpc>
                <a:spcPts val="4074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782184" y="2298161"/>
            <a:ext cx="6774365" cy="3598881"/>
          </a:xfrm>
          <a:custGeom>
            <a:avLst/>
            <a:gdLst/>
            <a:ahLst/>
            <a:cxnLst/>
            <a:rect l="l" t="t" r="r" b="b"/>
            <a:pathLst>
              <a:path w="6774365" h="3598881">
                <a:moveTo>
                  <a:pt x="0" y="0"/>
                </a:moveTo>
                <a:lnTo>
                  <a:pt x="6774365" y="0"/>
                </a:lnTo>
                <a:lnTo>
                  <a:pt x="6774365" y="3598881"/>
                </a:lnTo>
                <a:lnTo>
                  <a:pt x="0" y="3598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0080" y="1140142"/>
            <a:ext cx="4638573" cy="153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Visualize the top 10 industries by fraud rate</a:t>
            </a:r>
          </a:p>
          <a:p>
            <a:pPr algn="ctr" rtl="1">
              <a:lnSpc>
                <a:spcPts val="4074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831616" y="2626868"/>
            <a:ext cx="6543842" cy="3545332"/>
          </a:xfrm>
          <a:custGeom>
            <a:avLst/>
            <a:gdLst/>
            <a:ahLst/>
            <a:cxnLst/>
            <a:rect l="l" t="t" r="r" b="b"/>
            <a:pathLst>
              <a:path w="6543842" h="3545332">
                <a:moveTo>
                  <a:pt x="0" y="0"/>
                </a:moveTo>
                <a:lnTo>
                  <a:pt x="6543842" y="0"/>
                </a:lnTo>
                <a:lnTo>
                  <a:pt x="6543842" y="3545332"/>
                </a:lnTo>
                <a:lnTo>
                  <a:pt x="0" y="354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84250" y="1140142"/>
            <a:ext cx="4638573" cy="204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Descriptive statistics for information availability features</a:t>
            </a:r>
          </a:p>
          <a:p>
            <a:pPr algn="ctr" rtl="1">
              <a:lnSpc>
                <a:spcPts val="4074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273503" y="1702539"/>
            <a:ext cx="5292984" cy="4194854"/>
          </a:xfrm>
          <a:custGeom>
            <a:avLst/>
            <a:gdLst/>
            <a:ahLst/>
            <a:cxnLst/>
            <a:rect l="l" t="t" r="r" b="b"/>
            <a:pathLst>
              <a:path w="5292984" h="4194854">
                <a:moveTo>
                  <a:pt x="0" y="0"/>
                </a:moveTo>
                <a:lnTo>
                  <a:pt x="5292984" y="0"/>
                </a:lnTo>
                <a:lnTo>
                  <a:pt x="5292984" y="4194854"/>
                </a:lnTo>
                <a:lnTo>
                  <a:pt x="0" y="419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0080" y="1140142"/>
            <a:ext cx="4638573" cy="101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Correlation Analysis</a:t>
            </a:r>
          </a:p>
          <a:p>
            <a:pPr algn="ctr" rtl="1">
              <a:lnSpc>
                <a:spcPts val="4074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087163" y="1374331"/>
            <a:ext cx="6610492" cy="4720807"/>
          </a:xfrm>
          <a:custGeom>
            <a:avLst/>
            <a:gdLst/>
            <a:ahLst/>
            <a:cxnLst/>
            <a:rect l="l" t="t" r="r" b="b"/>
            <a:pathLst>
              <a:path w="6610492" h="4720807">
                <a:moveTo>
                  <a:pt x="0" y="0"/>
                </a:moveTo>
                <a:lnTo>
                  <a:pt x="6610492" y="0"/>
                </a:lnTo>
                <a:lnTo>
                  <a:pt x="6610492" y="4720807"/>
                </a:lnTo>
                <a:lnTo>
                  <a:pt x="0" y="4720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0" b="-79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120" y="1354237"/>
            <a:ext cx="3190322" cy="3083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Analyze fraud rates by job function while excluding small categories</a:t>
            </a:r>
          </a:p>
          <a:p>
            <a:pPr algn="ctr" rtl="1">
              <a:lnSpc>
                <a:spcPts val="4074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83394" y="1964213"/>
            <a:ext cx="6534591" cy="4130925"/>
          </a:xfrm>
          <a:custGeom>
            <a:avLst/>
            <a:gdLst/>
            <a:ahLst/>
            <a:cxnLst/>
            <a:rect l="l" t="t" r="r" b="b"/>
            <a:pathLst>
              <a:path w="6534591" h="4130925">
                <a:moveTo>
                  <a:pt x="0" y="0"/>
                </a:moveTo>
                <a:lnTo>
                  <a:pt x="6534592" y="0"/>
                </a:lnTo>
                <a:lnTo>
                  <a:pt x="6534592" y="4130925"/>
                </a:lnTo>
                <a:lnTo>
                  <a:pt x="0" y="413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1990" y="1267710"/>
            <a:ext cx="7497401" cy="152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020"/>
              </a:lnSpc>
            </a:pPr>
            <a:r>
              <a:rPr lang="en-US" sz="2157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Distribution of missing fields for real vs fraudulent job postings</a:t>
            </a:r>
          </a:p>
          <a:p>
            <a:pPr algn="ctr" rtl="1">
              <a:lnSpc>
                <a:spcPts val="3020"/>
              </a:lnSpc>
            </a:pPr>
            <a:endParaRPr/>
          </a:p>
          <a:p>
            <a:pPr algn="ctr" rtl="1">
              <a:lnSpc>
                <a:spcPts val="3020"/>
              </a:lnSpc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3150" y="2076450"/>
            <a:ext cx="814065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Machine Learning Model &amp; Evaluation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-1060597" y="3638033"/>
            <a:ext cx="478977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542032" y="6264870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149" y="289084"/>
            <a:ext cx="564999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Experimental 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6033" y="1360671"/>
            <a:ext cx="4445397" cy="32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→ Evaluate → Compare → Improve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79750" y="1646384"/>
            <a:ext cx="540331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endParaRPr/>
          </a:p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followed an experimental approach:</a:t>
            </a:r>
          </a:p>
          <a:p>
            <a:pPr algn="ctr">
              <a:lnSpc>
                <a:spcPts val="2038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85800" y="1922882"/>
            <a:ext cx="7888587" cy="172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3"/>
              </a:lnSpc>
            </a:pPr>
            <a:endParaRPr/>
          </a:p>
          <a:p>
            <a:pPr marL="362721" lvl="1" indent="-181361" algn="l">
              <a:lnSpc>
                <a:spcPts val="2016"/>
              </a:lnSpc>
              <a:buAutoNum type="arabicPeriod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Prepare the data and create meaningful features.</a:t>
            </a:r>
          </a:p>
          <a:p>
            <a:pPr marL="362721" lvl="1" indent="-181361" algn="l">
              <a:lnSpc>
                <a:spcPts val="2016"/>
              </a:lnSpc>
              <a:buAutoNum type="arabicPeriod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the same preprocessing pipeline to ensure a fair comparison.</a:t>
            </a:r>
          </a:p>
          <a:p>
            <a:pPr marL="362721" lvl="1" indent="-181361" algn="l">
              <a:lnSpc>
                <a:spcPts val="2016"/>
              </a:lnSpc>
              <a:buAutoNum type="arabicPeriod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Try different ML models and hyperparameters.</a:t>
            </a:r>
          </a:p>
          <a:p>
            <a:pPr marL="362721" lvl="1" indent="-181361" algn="l">
              <a:lnSpc>
                <a:spcPts val="2016"/>
              </a:lnSpc>
              <a:buAutoNum type="arabicPeriod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Evaluate their performance using multiple metrics.</a:t>
            </a:r>
          </a:p>
          <a:p>
            <a:pPr marL="362721" lvl="1" indent="-181361" algn="l">
              <a:lnSpc>
                <a:spcPts val="2016"/>
              </a:lnSpc>
              <a:buAutoNum type="arabicPeriod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Compare the results and identify the strongest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149" y="4300521"/>
            <a:ext cx="5182372" cy="75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Find the model that best detects fraudulent job postings.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542032" y="3919554"/>
            <a:ext cx="1066701" cy="29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9"/>
              </a:lnSpc>
              <a:spcBef>
                <a:spcPct val="0"/>
              </a:spcBef>
            </a:pPr>
            <a:r>
              <a:rPr lang="en-US" sz="16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Main goal: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2595" y="4820747"/>
            <a:ext cx="1161256" cy="29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9"/>
              </a:lnSpc>
              <a:spcBef>
                <a:spcPct val="0"/>
              </a:spcBef>
            </a:pPr>
            <a:r>
              <a:rPr lang="en-US" sz="16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Evaluation: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2032" y="5201715"/>
            <a:ext cx="3687564" cy="27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8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Precision | Recall | F1-score | ROC-AUC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30101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603972" y="6204676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16418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2438" y="3047962"/>
            <a:ext cx="7922535" cy="17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Categorical Features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employment_type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required_experience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required_education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industry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function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2438" y="5100197"/>
            <a:ext cx="8144373" cy="64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97118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32928" y="1898442"/>
            <a:ext cx="308337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2341510"/>
            <a:ext cx="6421772" cy="6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sz="2069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categorical + numerical features only.</a:t>
            </a:r>
          </a:p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sz="2069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0938" y="1250742"/>
            <a:ext cx="70171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21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detect fraud without using text features?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444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6172" y="2188659"/>
            <a:ext cx="261632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7710" y="2754358"/>
            <a:ext cx="6094063" cy="17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One-Hot Encoding for categorical features.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6 ML models.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hyperparameter tuning was applied.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97118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600951" y="1286211"/>
            <a:ext cx="6204384" cy="62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categorical + numerical features only.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225318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60149" y="3354202"/>
            <a:ext cx="8567717" cy="2592446"/>
          </a:xfrm>
          <a:custGeom>
            <a:avLst/>
            <a:gdLst/>
            <a:ahLst/>
            <a:cxnLst/>
            <a:rect l="l" t="t" r="r" b="b"/>
            <a:pathLst>
              <a:path w="8567717" h="2592446">
                <a:moveTo>
                  <a:pt x="0" y="0"/>
                </a:moveTo>
                <a:lnTo>
                  <a:pt x="8567716" y="0"/>
                </a:lnTo>
                <a:lnTo>
                  <a:pt x="8567716" y="2592446"/>
                </a:lnTo>
                <a:lnTo>
                  <a:pt x="0" y="2592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403" y="125648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8403" y="1291226"/>
            <a:ext cx="9698098" cy="180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Best Models: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(0.754).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(0.809).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(0.964).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(0.956).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Forest gave the strongest overall performance, with F1 = 0.754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and Precision = 0.964. Logistic Regression achieved the highest Recall (0.809), but its low Precision reduced its F1-score.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965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037" y="1084793"/>
            <a:ext cx="9055510" cy="130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</a:pPr>
            <a:endParaRPr/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keep the same features but change the categorical encoding method?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3860" y="219417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85800" y="2456373"/>
            <a:ext cx="31115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8848" y="3135888"/>
            <a:ext cx="7313967" cy="92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580" lvl="1" indent="-215790" algn="l">
              <a:lnSpc>
                <a:spcPts val="2399"/>
              </a:lnSpc>
              <a:buFont typeface="Arial"/>
              <a:buChar char="•"/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categorical + numerical features as EX1.</a:t>
            </a:r>
          </a:p>
          <a:p>
            <a:pPr marL="431580" lvl="1" indent="-215790" algn="l">
              <a:lnSpc>
                <a:spcPts val="2399"/>
              </a:lnSpc>
              <a:buFont typeface="Arial"/>
              <a:buChar char="•"/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  <a:p>
            <a:pPr marL="431580" lvl="1" indent="-215790" algn="l">
              <a:lnSpc>
                <a:spcPts val="2399"/>
              </a:lnSpc>
              <a:buFont typeface="Arial"/>
              <a:buChar char="•"/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only change was the categorical encoding method.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444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2360087"/>
            <a:ext cx="30353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7710" y="2976613"/>
            <a:ext cx="5971084" cy="167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Ordinal Encoding for categorical features</a:t>
            </a: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the same 6 ML models.</a:t>
            </a:r>
          </a:p>
          <a:p>
            <a:pPr marL="469340" lvl="1" indent="-234670" algn="l">
              <a:lnSpc>
                <a:spcPts val="2608"/>
              </a:lnSpc>
              <a:buFont typeface="Arial"/>
              <a:buChar char="•"/>
            </a:pPr>
            <a:r>
              <a:rPr lang="en-US" sz="217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hyperparameter tuning was applied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60" y="220096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15720" y="1102807"/>
            <a:ext cx="9055510" cy="130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</a:pPr>
            <a:endParaRPr/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keep the same features but change the categorical encoding method?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225318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78653" y="2999913"/>
            <a:ext cx="8934404" cy="2726838"/>
          </a:xfrm>
          <a:custGeom>
            <a:avLst/>
            <a:gdLst/>
            <a:ahLst/>
            <a:cxnLst/>
            <a:rect l="l" t="t" r="r" b="b"/>
            <a:pathLst>
              <a:path w="8934404" h="2726838">
                <a:moveTo>
                  <a:pt x="0" y="0"/>
                </a:moveTo>
                <a:lnTo>
                  <a:pt x="8934403" y="0"/>
                </a:lnTo>
                <a:lnTo>
                  <a:pt x="8934403" y="2726837"/>
                </a:lnTo>
                <a:lnTo>
                  <a:pt x="0" y="272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07" y="316178"/>
            <a:ext cx="9878997" cy="46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759" y="1190201"/>
            <a:ext cx="9682191" cy="180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580" lvl="1" indent="-215790" algn="l">
              <a:lnSpc>
                <a:spcPts val="2399"/>
              </a:lnSpc>
              <a:buFont typeface="Arial"/>
              <a:buChar char="•"/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Best Models: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(0.728).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Decision Tree (0.647).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(0.936).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XGBoost (0.963).</a:t>
            </a:r>
          </a:p>
          <a:p>
            <a:pPr marL="431580" lvl="1" indent="-215790" algn="l">
              <a:lnSpc>
                <a:spcPts val="2399"/>
              </a:lnSpc>
              <a:buFont typeface="Arial"/>
              <a:buChar char="•"/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Forest remained best, but F1 dropped from 0.754 (One-Hot) to 0.728 (Ordinal)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; linear models degraded considerably. One-Hot Encoding is preferred; Ordinal is kept only as a comparison.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44378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41852" y="891015"/>
            <a:ext cx="4388170" cy="36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From Raw Data to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2819" y="1782190"/>
            <a:ext cx="7770728" cy="62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 Features</a:t>
            </a:r>
          </a:p>
          <a:p>
            <a:pPr marL="388401" lvl="1" indent="-194201" algn="l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job_context :- title + industry + function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2819" y="2772773"/>
            <a:ext cx="7922535" cy="17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Categorical Features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employment_type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required_experience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required_education</a:t>
            </a:r>
          </a:p>
          <a:p>
            <a:pPr marL="409991" lvl="1" indent="-204995" algn="l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industry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function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9882" y="5034040"/>
            <a:ext cx="8144373" cy="64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58234"/>
            <a:ext cx="9878997" cy="8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Learning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73585" y="1357700"/>
            <a:ext cx="343331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444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77095" y="1155250"/>
            <a:ext cx="4388170" cy="36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From Raw Data to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77095" y="219417"/>
            <a:ext cx="9878997" cy="46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172" y="1986610"/>
            <a:ext cx="284492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2586" y="2529491"/>
            <a:ext cx="8570961" cy="237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4" lvl="1" indent="-237117" algn="l">
              <a:lnSpc>
                <a:spcPts val="2636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TF-IDF for text features.</a:t>
            </a:r>
          </a:p>
          <a:p>
            <a:pPr marL="474234" lvl="1" indent="-237117" algn="l">
              <a:lnSpc>
                <a:spcPts val="2636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One-Hot Encoding for categorical features.</a:t>
            </a:r>
          </a:p>
          <a:p>
            <a:pPr marL="474234" lvl="1" indent="-237117" algn="l">
              <a:lnSpc>
                <a:spcPts val="263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marL="474234" lvl="1" indent="-237117" algn="l">
              <a:lnSpc>
                <a:spcPts val="2636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MINMAX to numerical features at Complement Naive Bayes</a:t>
            </a:r>
          </a:p>
          <a:p>
            <a:pPr marL="474234" lvl="1" indent="-237117" algn="l">
              <a:lnSpc>
                <a:spcPts val="2636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class weights to handle class imbalance.</a:t>
            </a:r>
          </a:p>
          <a:p>
            <a:pPr marL="474234" lvl="1" indent="-237117" algn="l">
              <a:lnSpc>
                <a:spcPts val="2636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GridSearchCV to tune the model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814" y="-211226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77095" y="1200615"/>
            <a:ext cx="4388170" cy="36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From Raw Data to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90449" y="219404"/>
            <a:ext cx="9878997" cy="46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6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Learning</a:t>
            </a:r>
          </a:p>
        </p:txBody>
      </p:sp>
      <p:sp>
        <p:nvSpPr>
          <p:cNvPr id="8" name="Freeform 8"/>
          <p:cNvSpPr/>
          <p:nvPr/>
        </p:nvSpPr>
        <p:spPr>
          <a:xfrm>
            <a:off x="98403" y="3766851"/>
            <a:ext cx="9690144" cy="1735016"/>
          </a:xfrm>
          <a:custGeom>
            <a:avLst/>
            <a:gdLst/>
            <a:ahLst/>
            <a:cxnLst/>
            <a:rect l="l" t="t" r="r" b="b"/>
            <a:pathLst>
              <a:path w="9690144" h="1735016">
                <a:moveTo>
                  <a:pt x="0" y="0"/>
                </a:moveTo>
                <a:lnTo>
                  <a:pt x="9690144" y="0"/>
                </a:lnTo>
                <a:lnTo>
                  <a:pt x="9690144" y="1735016"/>
                </a:lnTo>
                <a:lnTo>
                  <a:pt x="0" y="1735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17" r="-4789" b="-52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9332" y="1629200"/>
            <a:ext cx="9448286" cy="162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9685" lvl="1" indent="-194843" algn="l">
              <a:lnSpc>
                <a:spcPts val="2165"/>
              </a:lnSpc>
              <a:buFont typeface="Arial"/>
              <a:buChar char="•"/>
            </a:pPr>
            <a:r>
              <a:rPr lang="en-US" sz="180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Best Models: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Best F1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(0.720).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Linear SVC (0.769).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(0.990).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(0.975)</a:t>
            </a:r>
          </a:p>
          <a:p>
            <a:pPr algn="ctr">
              <a:lnSpc>
                <a:spcPts val="2045"/>
              </a:lnSpc>
              <a:spcBef>
                <a:spcPct val="0"/>
              </a:spcBef>
            </a:pPr>
            <a:endParaRPr/>
          </a:p>
          <a:p>
            <a:pPr marL="389685" lvl="1" indent="-194843" algn="l">
              <a:lnSpc>
                <a:spcPts val="2166"/>
              </a:lnSpc>
              <a:buFont typeface="Arial"/>
              <a:buChar char="•"/>
            </a:pPr>
            <a:r>
              <a:rPr lang="en-US" sz="180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Logistic Regression achieved the highest F1-score (0.720),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providing the best overall F1 performance in EX3.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135671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2595" y="860437"/>
            <a:ext cx="87968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endParaRPr/>
          </a:p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rely more on the actual content of the job posting and remove the categorical information?</a:t>
            </a:r>
          </a:p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546529" y="3318974"/>
            <a:ext cx="5475288" cy="83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 Features</a:t>
            </a:r>
          </a:p>
          <a:p>
            <a:pPr marL="388401" lvl="1" indent="-194201" algn="l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98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text_combined {title+description+requirements+benefits}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6529" y="4557190"/>
            <a:ext cx="6310893" cy="60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  <a:spcBef>
                <a:spcPct val="0"/>
              </a:spcBef>
            </a:pPr>
            <a:r>
              <a:rPr lang="en-US" sz="18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marL="409991" lvl="1" indent="-204995" algn="l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8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529" y="252266"/>
            <a:ext cx="6464377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560149" y="2052221"/>
            <a:ext cx="30847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252" y="2566533"/>
            <a:ext cx="7766447" cy="57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Kept numerical features such as text length and information availability.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Removed categorical One-Hot features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19949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2595" y="860437"/>
            <a:ext cx="87968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endParaRPr/>
          </a:p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rely more on the actual content of the job posting and remove the categorical information?</a:t>
            </a:r>
          </a:p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546529" y="342004"/>
            <a:ext cx="6464377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85800" y="2079625"/>
            <a:ext cx="30353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422" y="2632031"/>
            <a:ext cx="9472482" cy="2000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TF-IDF to the combined text.</a:t>
            </a:r>
          </a:p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1–2 grams to capture words and short phrases.</a:t>
            </a:r>
          </a:p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StandardScaler to numerical features.</a:t>
            </a:r>
          </a:p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MINMAX to numerical features at Complement Naive Bayes</a:t>
            </a:r>
          </a:p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 for fair comparison.</a:t>
            </a:r>
          </a:p>
          <a:p>
            <a:pPr marL="468684" lvl="1" indent="-234342" algn="l">
              <a:lnSpc>
                <a:spcPts val="2605"/>
              </a:lnSpc>
              <a:buFont typeface="Arial"/>
              <a:buChar char="•"/>
            </a:pPr>
            <a:r>
              <a:rPr lang="en-US" sz="21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Trained multiple ML models.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350991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7153" y="638175"/>
            <a:ext cx="9530642" cy="130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</a:pPr>
            <a:endParaRPr/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sz="20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rely more on the actual content of the job posting and remove the categorical information?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42224" y="1904980"/>
            <a:ext cx="9675571" cy="135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951" lvl="1" indent="-188475" algn="l">
              <a:lnSpc>
                <a:spcPts val="2095"/>
              </a:lnSpc>
              <a:buFont typeface="Arial"/>
              <a:buChar char="•"/>
            </a:pPr>
            <a:r>
              <a:rPr lang="en-US" sz="1745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Best Models: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45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(0.822). </a:t>
            </a:r>
            <a:r>
              <a:rPr lang="en-US" sz="1745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Complement Naive Bayes (0.884). </a:t>
            </a:r>
            <a:r>
              <a:rPr lang="en-US" sz="1745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XGBoost (0.981). </a:t>
            </a:r>
            <a:r>
              <a:rPr lang="en-US" sz="1745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(0.983).</a:t>
            </a:r>
          </a:p>
          <a:p>
            <a:pPr marL="376951" lvl="1" indent="-188475" algn="l">
              <a:lnSpc>
                <a:spcPts val="2095"/>
              </a:lnSpc>
              <a:buFont typeface="Arial"/>
              <a:buChar char="•"/>
            </a:pPr>
            <a:r>
              <a:rPr lang="en-US" sz="1745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</a:t>
            </a:r>
            <a:r>
              <a:rPr lang="en-US" sz="1745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Logistic Regression achieved the highest F1-score (0.822) Overall,</a:t>
            </a:r>
            <a:r>
              <a:rPr lang="en-US" sz="1745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Logistic Regression provided the best balance between precision and recall in EX2.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287" y="190506"/>
            <a:ext cx="6464377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68733" y="3614352"/>
            <a:ext cx="9595967" cy="1836406"/>
          </a:xfrm>
          <a:custGeom>
            <a:avLst/>
            <a:gdLst/>
            <a:ahLst/>
            <a:cxnLst/>
            <a:rect l="l" t="t" r="r" b="b"/>
            <a:pathLst>
              <a:path w="9967481" h="1836406">
                <a:moveTo>
                  <a:pt x="0" y="0"/>
                </a:moveTo>
                <a:lnTo>
                  <a:pt x="9967482" y="0"/>
                </a:lnTo>
                <a:lnTo>
                  <a:pt x="9967482" y="1836406"/>
                </a:lnTo>
                <a:lnTo>
                  <a:pt x="0" y="183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95375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1301557" y="6287054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314004" y="6380604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25854" y="1211584"/>
            <a:ext cx="1032081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8"/>
              </a:lnSpc>
              <a:spcBef>
                <a:spcPct val="0"/>
              </a:spcBef>
            </a:pPr>
            <a:r>
              <a:rPr lang="en-US" sz="2498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what if the remaining challenge is the class imbalance and make Numerical feature Selection?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1287" y="219126"/>
            <a:ext cx="6464377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 — Handling Class Imbalance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3334" y="2090055"/>
            <a:ext cx="231576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0137" y="2632944"/>
            <a:ext cx="9586813" cy="60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different oversampling techniques → Evaluate their impact → Compare the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3711404"/>
            <a:ext cx="2668687" cy="33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1557" y="4248065"/>
            <a:ext cx="7805621" cy="99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095" lvl="1" indent="-171547" algn="l">
              <a:lnSpc>
                <a:spcPts val="1907"/>
              </a:lnSpc>
              <a:buFont typeface="Arial"/>
              <a:buChar char="•"/>
            </a:pPr>
            <a:r>
              <a:rPr lang="en-US" sz="158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Reused the Text + Numerical feature Selection</a:t>
            </a:r>
          </a:p>
          <a:p>
            <a:pPr marL="343095" lvl="1" indent="-171547" algn="l">
              <a:lnSpc>
                <a:spcPts val="1907"/>
              </a:lnSpc>
              <a:buFont typeface="Arial"/>
              <a:buChar char="•"/>
            </a:pPr>
            <a:r>
              <a:rPr lang="en-US" sz="158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main job-posting text fields.</a:t>
            </a:r>
          </a:p>
          <a:p>
            <a:pPr marL="343095" lvl="1" indent="-171547" algn="l">
              <a:lnSpc>
                <a:spcPts val="1907"/>
              </a:lnSpc>
              <a:buFont typeface="Arial"/>
              <a:buChar char="•"/>
            </a:pPr>
            <a:r>
              <a:rPr lang="en-US" sz="158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TF-IDF for text representation.</a:t>
            </a:r>
          </a:p>
          <a:p>
            <a:pPr marL="343095" lvl="1" indent="-171547" algn="l">
              <a:lnSpc>
                <a:spcPts val="1907"/>
              </a:lnSpc>
              <a:buFont typeface="Arial"/>
              <a:buChar char="•"/>
            </a:pPr>
            <a:r>
              <a:rPr lang="en-US" sz="158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Kept the same numerical and information-availability features.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19698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42235" y="344513"/>
            <a:ext cx="10171419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 — Handling Class Imbalance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42235" y="1173162"/>
            <a:ext cx="1032081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  <a:spcBef>
                <a:spcPct val="0"/>
              </a:spcBef>
            </a:pPr>
            <a:r>
              <a:rPr lang="en-US" sz="24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what if the remaining challenge is the class imbalance and make Numerical feature Selection?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2181" y="2810398"/>
            <a:ext cx="7202587" cy="197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552" lvl="1" indent="-199776" algn="l">
              <a:lnSpc>
                <a:spcPts val="2221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TF-IDF to text.</a:t>
            </a:r>
          </a:p>
          <a:p>
            <a:pPr marL="399552" lvl="1" indent="-199776" algn="l">
              <a:lnSpc>
                <a:spcPts val="2220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StandardScaler to numerical features.</a:t>
            </a:r>
          </a:p>
          <a:p>
            <a:pPr marL="399552" lvl="1" indent="-199776" algn="l">
              <a:lnSpc>
                <a:spcPts val="2220"/>
              </a:lnSpc>
              <a:buFont typeface="Arial"/>
              <a:buChar char="•"/>
            </a:pPr>
            <a:r>
              <a:rPr lang="en-US" sz="185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two imbalance techniques:</a:t>
            </a:r>
          </a:p>
          <a:p>
            <a:pPr marL="399552" lvl="1" indent="-199776" algn="l">
              <a:lnSpc>
                <a:spcPts val="2220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Random OverSampling (ROS)</a:t>
            </a:r>
          </a:p>
          <a:p>
            <a:pPr marL="399552" lvl="1" indent="-199776" algn="l">
              <a:lnSpc>
                <a:spcPts val="2220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SMOTE</a:t>
            </a:r>
          </a:p>
          <a:p>
            <a:pPr marL="399552" lvl="1" indent="-199776" algn="l">
              <a:lnSpc>
                <a:spcPts val="2221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Resampling was applied only to the training data.</a:t>
            </a:r>
          </a:p>
          <a:p>
            <a:pPr marL="399552" lvl="1" indent="-199776" algn="l">
              <a:lnSpc>
                <a:spcPts val="2220"/>
              </a:lnSpc>
              <a:buFont typeface="Arial"/>
              <a:buChar char="•"/>
            </a:pPr>
            <a:r>
              <a:rPr lang="en-US" sz="185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multiple ML models.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183930"/>
            <a:ext cx="1983780" cy="33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9"/>
              </a:lnSpc>
              <a:spcBef>
                <a:spcPct val="0"/>
              </a:spcBef>
            </a:pPr>
            <a:r>
              <a:rPr lang="en-US" sz="19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3" y="-196983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42235" y="344513"/>
            <a:ext cx="10171419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1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EX5— Handling Class Imbalance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216930" y="952684"/>
            <a:ext cx="1032081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  <a:spcBef>
                <a:spcPct val="0"/>
              </a:spcBef>
            </a:pPr>
            <a:r>
              <a:rPr lang="en-US" sz="24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what if the remaining challenge is the class imbalance and make Numerical feature Selection?</a:t>
            </a:r>
          </a:p>
        </p:txBody>
      </p:sp>
      <p:sp>
        <p:nvSpPr>
          <p:cNvPr id="8" name="Freeform 8"/>
          <p:cNvSpPr/>
          <p:nvPr/>
        </p:nvSpPr>
        <p:spPr>
          <a:xfrm>
            <a:off x="394173" y="3429000"/>
            <a:ext cx="9247995" cy="2785191"/>
          </a:xfrm>
          <a:custGeom>
            <a:avLst/>
            <a:gdLst/>
            <a:ahLst/>
            <a:cxnLst/>
            <a:rect l="l" t="t" r="r" b="b"/>
            <a:pathLst>
              <a:path w="9247995" h="2785191">
                <a:moveTo>
                  <a:pt x="0" y="0"/>
                </a:moveTo>
                <a:lnTo>
                  <a:pt x="9247995" y="0"/>
                </a:lnTo>
                <a:lnTo>
                  <a:pt x="9247995" y="2785191"/>
                </a:lnTo>
                <a:lnTo>
                  <a:pt x="0" y="2785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r="-286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58853" y="1695634"/>
            <a:ext cx="9701022" cy="163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942" lvl="1" indent="-188971" algn="l">
              <a:lnSpc>
                <a:spcPts val="2100"/>
              </a:lnSpc>
              <a:buFont typeface="Arial"/>
              <a:buChar char="•"/>
            </a:pPr>
            <a:r>
              <a:rPr lang="en-US" sz="1750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 Best Models: </a:t>
            </a:r>
            <a:r>
              <a:rPr lang="en-US" sz="1750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 —</a:t>
            </a:r>
            <a:r>
              <a:rPr lang="en-US" sz="175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Linear SVC + SMOTE (0.826). </a:t>
            </a:r>
            <a:r>
              <a:rPr lang="en-US" sz="1750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75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XGBoost + ROS (0.821). </a:t>
            </a:r>
            <a:r>
              <a:rPr lang="en-US" sz="1750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</a:t>
            </a:r>
            <a:r>
              <a:rPr lang="en-US" sz="175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+ SMOTE (1.000).</a:t>
            </a:r>
            <a:r>
              <a:rPr lang="en-US" sz="1750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Best ROC-AUC </a:t>
            </a:r>
            <a:r>
              <a:rPr lang="en-US" sz="175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Logistic Regression + ROS (0.985).</a:t>
            </a:r>
          </a:p>
          <a:p>
            <a:pPr marL="377942" lvl="1" indent="-188971" algn="l">
              <a:lnSpc>
                <a:spcPts val="2100"/>
              </a:lnSpc>
              <a:buFont typeface="Arial"/>
              <a:buChar char="•"/>
            </a:pPr>
            <a:r>
              <a:rPr lang="en-US" sz="1750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Note</a:t>
            </a:r>
            <a:r>
              <a:rPr lang="en-US" sz="1750" u="none" strike="noStrik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  <a:r>
              <a:rPr lang="en-US" sz="175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Random Forest + SMOTE reached perfect precision (1.000) but the second-lowest recall in the table (0.601), a sign of the model becoming overly conservative on synthetic minority samples rather than a genuinely better model.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179" y="-377066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492033"/>
            <a:ext cx="992546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endParaRPr/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21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choosing one model, we combine the best ones?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233460" y="1234692"/>
            <a:ext cx="10279739" cy="77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8"/>
              </a:lnSpc>
            </a:pPr>
            <a:endParaRPr/>
          </a:p>
          <a:p>
            <a:pPr algn="ctr">
              <a:lnSpc>
                <a:spcPts val="2038"/>
              </a:lnSpc>
              <a:spcBef>
                <a:spcPct val="0"/>
              </a:spcBef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Different models may make different mistakes,combining them can improve the final decision.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84650" y="1846995"/>
            <a:ext cx="9424027" cy="164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endParaRPr/>
          </a:p>
          <a:p>
            <a:pPr algn="ctr">
              <a:lnSpc>
                <a:spcPts val="210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</a:t>
            </a:r>
            <a:r>
              <a:rPr lang="en-US" sz="1750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→ Majority vote between the models.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</a:t>
            </a:r>
            <a:r>
              <a:rPr lang="en-US" sz="17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→ Uses a Logistic Regression model to learn how to combine the base models' predictions.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128670" y="119251"/>
            <a:ext cx="5368838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 — Ensemble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815" y="1989783"/>
            <a:ext cx="4072266" cy="32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two approaches: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6990" y="3209172"/>
            <a:ext cx="5480518" cy="33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How Did We Build the Ensembles?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7444" y="4256845"/>
            <a:ext cx="7892063" cy="18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Used the best model variants from EX5.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Selected four strong base models: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Logistic Regression + ROS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Linear SVC + ROS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Random Forest + SMOTE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XGBoost + SMOTE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Their predictions were used as inputs for ensemble methods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650" y="3733008"/>
            <a:ext cx="374125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1)Feature Engineering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607" y="-279873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8514" y="1021838"/>
            <a:ext cx="992546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endParaRPr/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21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choosing one model, we combine the best ones?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259056" y="216444"/>
            <a:ext cx="5368838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EX6— Ensemble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1724" y="2866527"/>
            <a:ext cx="8975229" cy="1466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Built two ensemble approaches: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 → majority decision.</a:t>
            </a:r>
          </a:p>
          <a:p>
            <a:pPr marL="409991" lvl="1" indent="-204995" algn="l">
              <a:lnSpc>
                <a:spcPts val="2279"/>
              </a:lnSpc>
              <a:buFont typeface="Arial"/>
              <a:buChar char="•"/>
            </a:pPr>
            <a:r>
              <a:rPr lang="en-US" sz="18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 → Logistic Regression learns how to combine model predictions.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2594" y="2245316"/>
            <a:ext cx="246270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99"/>
              </a:lnSpc>
              <a:spcBef>
                <a:spcPct val="0"/>
              </a:spcBef>
            </a:pPr>
            <a:r>
              <a:rPr lang="en-US" sz="1998" b="1" u="none" strike="noStrike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42245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8514" y="1021838"/>
            <a:ext cx="992546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endParaRPr/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21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choosing one model, we combine the best ones?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016990" y="278940"/>
            <a:ext cx="5368838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EX6— Ensemble Learning</a:t>
            </a:r>
          </a:p>
        </p:txBody>
      </p:sp>
      <p:sp>
        <p:nvSpPr>
          <p:cNvPr id="8" name="Freeform 8"/>
          <p:cNvSpPr/>
          <p:nvPr/>
        </p:nvSpPr>
        <p:spPr>
          <a:xfrm>
            <a:off x="394977" y="2496574"/>
            <a:ext cx="9193523" cy="1149339"/>
          </a:xfrm>
          <a:custGeom>
            <a:avLst/>
            <a:gdLst/>
            <a:ahLst/>
            <a:cxnLst/>
            <a:rect l="l" t="t" r="r" b="b"/>
            <a:pathLst>
              <a:path w="9567473" h="1149339">
                <a:moveTo>
                  <a:pt x="0" y="0"/>
                </a:moveTo>
                <a:lnTo>
                  <a:pt x="9567473" y="0"/>
                </a:lnTo>
                <a:lnTo>
                  <a:pt x="9567473" y="1149340"/>
                </a:lnTo>
                <a:lnTo>
                  <a:pt x="0" y="114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4977" y="4065014"/>
            <a:ext cx="944828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5"/>
              </a:lnSpc>
              <a:spcBef>
                <a:spcPct val="0"/>
              </a:spcBef>
            </a:pPr>
            <a:r>
              <a:rPr lang="en-US" sz="1704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</a:t>
            </a:r>
            <a:r>
              <a:rPr lang="en-US" sz="1704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onclusion:</a:t>
            </a:r>
            <a:r>
              <a:rPr lang="en-US" sz="1704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Stacking ensemble achieved the highest F1-score (0.850), providing the best overall performance among the evaluated ensemble approaches. Hard Voting achieved the highest precision (0.992), but its recall was lower (0.676), resulting in a lower F1-score. Overall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824" y="-157646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9499" y="696900"/>
            <a:ext cx="9925464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representing the job text using TF-IDF, </a:t>
            </a:r>
          </a:p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use a Transformer that understands context?</a:t>
            </a:r>
          </a:p>
          <a:p>
            <a:pPr algn="ctr">
              <a:lnSpc>
                <a:spcPts val="2431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72595" y="133909"/>
            <a:ext cx="8921313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EX7 — DistilBERT Feature Extraction (Frozen)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474" y="1883624"/>
            <a:ext cx="3393031" cy="30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two approaches: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0555" y="2436039"/>
            <a:ext cx="6780907" cy="163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Point A ) Frozen DistilBERT</a:t>
            </a:r>
          </a:p>
          <a:p>
            <a:pPr marL="388401" lvl="1" indent="-194201" algn="l">
              <a:lnSpc>
                <a:spcPts val="2159"/>
              </a:lnSpc>
              <a:buFont typeface="Arial"/>
              <a:buChar char="•"/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pre-trained DistilBERT as a frozen feature extractor.</a:t>
            </a:r>
          </a:p>
          <a:p>
            <a:pPr marL="388401" lvl="1" indent="-194201" algn="l">
              <a:lnSpc>
                <a:spcPts val="2159"/>
              </a:lnSpc>
              <a:buFont typeface="Arial"/>
              <a:buChar char="•"/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DistilBERT weights were not updated during training.</a:t>
            </a:r>
          </a:p>
          <a:p>
            <a:pPr marL="388401" lvl="1" indent="-194201" algn="l">
              <a:lnSpc>
                <a:spcPts val="2159"/>
              </a:lnSpc>
              <a:buFont typeface="Arial"/>
              <a:buChar char="•"/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Extracted contextual text embeddings using mean pooling.</a:t>
            </a:r>
          </a:p>
          <a:p>
            <a:pPr marL="388401" lvl="1" indent="-194201" algn="l">
              <a:lnSpc>
                <a:spcPts val="2159"/>
              </a:lnSpc>
              <a:buFont typeface="Arial"/>
              <a:buChar char="•"/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embeddings with numerical features.</a:t>
            </a:r>
          </a:p>
          <a:p>
            <a:pPr marL="388401" lvl="1" indent="-194201" algn="l">
              <a:lnSpc>
                <a:spcPts val="2159"/>
              </a:lnSpc>
              <a:buFont typeface="Arial"/>
              <a:buChar char="•"/>
            </a:pPr>
            <a:r>
              <a:rPr lang="en-US" sz="17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Trained classical ML models on the combined features.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85800" y="4360055"/>
            <a:ext cx="8474867" cy="637208"/>
          </a:xfrm>
          <a:custGeom>
            <a:avLst/>
            <a:gdLst/>
            <a:ahLst/>
            <a:cxnLst/>
            <a:rect l="l" t="t" r="r" b="b"/>
            <a:pathLst>
              <a:path w="8474867" h="637208">
                <a:moveTo>
                  <a:pt x="0" y="0"/>
                </a:moveTo>
                <a:lnTo>
                  <a:pt x="8474867" y="0"/>
                </a:lnTo>
                <a:lnTo>
                  <a:pt x="8474867" y="637208"/>
                </a:lnTo>
                <a:lnTo>
                  <a:pt x="0" y="63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3" y="-305655"/>
            <a:ext cx="9902857" cy="1106933"/>
            <a:chOff x="0" y="0"/>
            <a:chExt cx="13203809" cy="1475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75911"/>
            </a:xfrm>
            <a:custGeom>
              <a:avLst/>
              <a:gdLst/>
              <a:ahLst/>
              <a:cxnLst/>
              <a:rect l="l" t="t" r="r" b="b"/>
              <a:pathLst>
                <a:path w="13203810" h="1475911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8514" y="593724"/>
            <a:ext cx="9925464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191"/>
              </a:lnSpc>
              <a:spcBef>
                <a:spcPct val="0"/>
              </a:spcBef>
            </a:pPr>
            <a:r>
              <a:rPr lang="en-US" sz="18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representing the job text using TF-IDF,</a:t>
            </a:r>
          </a:p>
          <a:p>
            <a:pPr algn="ctr">
              <a:lnSpc>
                <a:spcPts val="2191"/>
              </a:lnSpc>
              <a:spcBef>
                <a:spcPct val="0"/>
              </a:spcBef>
            </a:pPr>
            <a:r>
              <a:rPr lang="en-US" sz="18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we use a Transformer that understands context and train data?</a:t>
            </a:r>
          </a:p>
          <a:p>
            <a:pPr algn="ctr">
              <a:lnSpc>
                <a:spcPts val="2191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72595" y="95944"/>
            <a:ext cx="8780952" cy="1285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8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EX7— DistilBERT Feature Extraction vs Fine-Tuning</a:t>
            </a:r>
          </a:p>
          <a:p>
            <a:pPr marL="0" lvl="0" indent="0" algn="ctr">
              <a:lnSpc>
                <a:spcPts val="3238"/>
              </a:lnSpc>
              <a:spcBef>
                <a:spcPct val="0"/>
              </a:spcBef>
            </a:pPr>
            <a:endParaRPr/>
          </a:p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60149" y="1734729"/>
            <a:ext cx="7102078" cy="220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9"/>
              </a:lnSpc>
              <a:spcBef>
                <a:spcPct val="0"/>
              </a:spcBef>
            </a:pPr>
            <a:r>
              <a:rPr lang="en-US" sz="1798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Point B )Fine-Tuned DistilBERT</a:t>
            </a:r>
          </a:p>
          <a:p>
            <a:pPr marL="345222" lvl="1" indent="-172611" algn="l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pre-trained DistilBERT and fine-tuned it on the job fraud dataset.</a:t>
            </a:r>
          </a:p>
          <a:p>
            <a:pPr marL="345222" lvl="1" indent="-172611" algn="l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Unlike Point A, the DistilBERT weights were updated during training.</a:t>
            </a:r>
          </a:p>
          <a:p>
            <a:pPr marL="345222" lvl="1" indent="-172611" algn="l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learned text representation with numerical features.</a:t>
            </a:r>
          </a:p>
          <a:p>
            <a:pPr marL="345222" lvl="1" indent="-172611" algn="l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Added a classification layer to predict Legitimate vs Fraudulent jobs.</a:t>
            </a:r>
          </a:p>
          <a:p>
            <a:pPr marL="345222" lvl="1" indent="-172611" algn="l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F1-score: 0.865</a:t>
            </a:r>
          </a:p>
          <a:p>
            <a:pPr marL="345222" lvl="1" indent="-172611" algn="l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ROC-AUC: 0.989</a:t>
            </a:r>
          </a:p>
          <a:p>
            <a:pPr marL="345222" lvl="1" indent="-172611" algn="l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598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PR-AUC: 0.912</a:t>
            </a:r>
          </a:p>
          <a:p>
            <a:pPr marL="0" lvl="0" indent="0" algn="l">
              <a:lnSpc>
                <a:spcPts val="1918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572595" y="3997151"/>
            <a:ext cx="9143123" cy="136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590" lvl="1" indent="-207295" algn="l">
              <a:lnSpc>
                <a:spcPts val="2304"/>
              </a:lnSpc>
              <a:buAutoNum type="arabicPeriod"/>
            </a:pPr>
            <a:r>
              <a:rPr lang="en-US" sz="192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  <a:p>
            <a:pPr marL="371411" lvl="1" indent="-185705" algn="l">
              <a:lnSpc>
                <a:spcPts val="2064"/>
              </a:lnSpc>
              <a:buFont typeface="Arial"/>
              <a:buChar char="•"/>
            </a:pPr>
            <a:r>
              <a:rPr lang="en-US" sz="172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performed better than the frozen version.</a:t>
            </a:r>
          </a:p>
          <a:p>
            <a:pPr marL="371411" lvl="1" indent="-185705" algn="l">
              <a:lnSpc>
                <a:spcPts val="2064"/>
              </a:lnSpc>
              <a:spcBef>
                <a:spcPct val="0"/>
              </a:spcBef>
              <a:buFont typeface="Arial"/>
              <a:buChar char="•"/>
            </a:pPr>
            <a:r>
              <a:rPr lang="en-US" sz="172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It achieved</a:t>
            </a:r>
            <a:r>
              <a:rPr lang="en-US" sz="172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highest F1-score: 0.865.</a:t>
            </a:r>
          </a:p>
          <a:p>
            <a:pPr marL="371411" lvl="1" indent="-185705" algn="l">
              <a:lnSpc>
                <a:spcPts val="2064"/>
              </a:lnSpc>
              <a:buFont typeface="Arial"/>
              <a:buChar char="•"/>
            </a:pPr>
            <a:r>
              <a:rPr lang="en-US" sz="172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It also outperformed our previous best model, Stacking: 0.850.</a:t>
            </a:r>
          </a:p>
          <a:p>
            <a:pPr marL="371411" lvl="1" indent="-185705" algn="l">
              <a:lnSpc>
                <a:spcPts val="2064"/>
              </a:lnSpc>
              <a:spcBef>
                <a:spcPct val="0"/>
              </a:spcBef>
              <a:buFont typeface="Arial"/>
              <a:buChar char="•"/>
            </a:pPr>
            <a:r>
              <a:rPr lang="en-US" sz="1720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was our best model.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6831" y="6277631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797389"/>
            <a:ext cx="920115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Conclusion, Recommendations &amp; Future Work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24" y="3408405"/>
            <a:ext cx="3748283" cy="9525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5816" y="336734"/>
            <a:ext cx="7560866" cy="46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9"/>
              </a:lnSpc>
              <a:spcBef>
                <a:spcPct val="0"/>
              </a:spcBef>
            </a:pPr>
            <a:r>
              <a:rPr lang="en-US" sz="2698" b="1" u="none" strike="noStrik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Conclusion, Recommendations &amp;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59" y="1279315"/>
            <a:ext cx="9767391" cy="201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2"/>
              </a:lnSpc>
              <a:spcBef>
                <a:spcPct val="0"/>
              </a:spcBef>
            </a:pPr>
            <a:r>
              <a:rPr lang="en-US" sz="1626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different ML, ensemble, and Transformer approaches.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Each experiment helped us improve our fraud detection.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 achieved a strong F1-score of 0.850, However, it is slower and more time-consuming because it combines multiple models.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achieved the highest F1-score of 0.865.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Linear SVC provides the best overall trade-off between performance and computational time.</a:t>
            </a:r>
          </a:p>
          <a:p>
            <a:pPr marL="351254" lvl="1" indent="-175627" algn="just">
              <a:lnSpc>
                <a:spcPts val="1952"/>
              </a:lnSpc>
              <a:buFont typeface="Arial"/>
              <a:buChar char="•"/>
            </a:pPr>
            <a:r>
              <a:rPr lang="en-US" sz="162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Therefore, Linear SVC is the preferred model for practical use.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559" y="3526857"/>
            <a:ext cx="6850856" cy="106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8" b="1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Recommendations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 Linear SVC when speed and efficiency are more important.</a:t>
            </a:r>
          </a:p>
          <a:p>
            <a:pPr marL="366812" lvl="1" indent="-183406" algn="ctr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Keep text + numerical features for better fraud detection.</a:t>
            </a:r>
          </a:p>
          <a:p>
            <a:pPr marL="366812" lvl="1" indent="-183406" algn="ctr">
              <a:lnSpc>
                <a:spcPts val="2038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Focus on F1-score because the dataset is imbalanced.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559" y="5103916"/>
            <a:ext cx="1262559" cy="29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9"/>
              </a:lnSpc>
              <a:spcBef>
                <a:spcPct val="0"/>
              </a:spcBef>
            </a:pPr>
            <a:r>
              <a:rPr lang="en-US" sz="1698" b="1" u="none" strike="noStrik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559" y="5103916"/>
            <a:ext cx="6284615" cy="55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  <a:p>
            <a:pPr marL="366812" lvl="1" indent="-183406" algn="l">
              <a:lnSpc>
                <a:spcPts val="2039"/>
              </a:lnSpc>
              <a:buFont typeface="Arial"/>
              <a:buChar char="•"/>
            </a:pPr>
            <a:r>
              <a:rPr lang="en-US" sz="169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other Transformer models such as BERT or RoBERTa.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9" y="5592937"/>
            <a:ext cx="9309849" cy="769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070" b="-207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1" b="-10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2333</Words>
  <Application>Microsoft Office PowerPoint</Application>
  <PresentationFormat>Custom</PresentationFormat>
  <Paragraphs>340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Arial</vt:lpstr>
      <vt:lpstr>Arimo</vt:lpstr>
      <vt:lpstr>Inter</vt:lpstr>
      <vt:lpstr>Calibri</vt:lpstr>
      <vt:lpstr>Arial MT Pro</vt:lpstr>
      <vt:lpstr>Inter Bold</vt:lpstr>
      <vt:lpstr>Arimo Bold</vt:lpstr>
      <vt:lpstr>Arial MT Pro Bold</vt:lpstr>
      <vt:lpstr>Inter Italics</vt:lpstr>
      <vt:lpstr>Inter Medium</vt:lpstr>
      <vt:lpstr>XM Vahid</vt:lpstr>
      <vt:lpstr>Droid Arabic Kufi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Members Motivation &amp; Problem Targeted audience Types of Face Detection Our approach Final Results Future Enhancements</dc:title>
  <cp:lastModifiedBy>Yousef Bahgt</cp:lastModifiedBy>
  <cp:revision>2</cp:revision>
  <dcterms:created xsi:type="dcterms:W3CDTF">2006-08-16T00:00:00Z</dcterms:created>
  <dcterms:modified xsi:type="dcterms:W3CDTF">2026-09-10T13:45:23Z</dcterms:modified>
  <dc:identifier>DAHUJ4k-pWM</dc:identifier>
</cp:coreProperties>
</file>